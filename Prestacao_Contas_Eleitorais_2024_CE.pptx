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dy carvalho de mesquita" userId="8c4c0223b53b0199" providerId="LiveId" clId="{BB9BD0DD-AAE8-4CC1-B6CD-D1D536704E5B}"/>
    <pc:docChg chg="modSld">
      <pc:chgData name="anady carvalho de mesquita" userId="8c4c0223b53b0199" providerId="LiveId" clId="{BB9BD0DD-AAE8-4CC1-B6CD-D1D536704E5B}" dt="2026-09-25T19:48:58.116" v="5" actId="20577"/>
      <pc:docMkLst>
        <pc:docMk/>
      </pc:docMkLst>
      <pc:sldChg chg="modSp mod">
        <pc:chgData name="anady carvalho de mesquita" userId="8c4c0223b53b0199" providerId="LiveId" clId="{BB9BD0DD-AAE8-4CC1-B6CD-D1D536704E5B}" dt="2026-09-25T19:48:58.116" v="5" actId="20577"/>
        <pc:sldMkLst>
          <pc:docMk/>
          <pc:sldMk cId="0" sldId="257"/>
        </pc:sldMkLst>
        <pc:spChg chg="mod">
          <ac:chgData name="anady carvalho de mesquita" userId="8c4c0223b53b0199" providerId="LiveId" clId="{BB9BD0DD-AAE8-4CC1-B6CD-D1D536704E5B}" dt="2026-09-25T19:48:58.116" v="5" actId="20577"/>
          <ac:spMkLst>
            <pc:docMk/>
            <pc:sldMk cId="0" sldId="257"/>
            <ac:spMk id="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18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94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351215" y="-2103120"/>
            <a:ext cx="6400800" cy="6400800"/>
          </a:xfrm>
          <a:prstGeom prst="ellipse">
            <a:avLst/>
          </a:prstGeom>
          <a:solidFill>
            <a:srgbClr val="1B3B6F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2377440" y="3931920"/>
            <a:ext cx="4754880" cy="4754880"/>
          </a:xfrm>
          <a:prstGeom prst="ellipse">
            <a:avLst/>
          </a:prstGeom>
          <a:solidFill>
            <a:srgbClr val="2E6E7E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DE CONTAS ELEITORAIS · 2024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105156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foi o dinheiro das</a:t>
            </a:r>
            <a:endParaRPr lang="en-US" sz="4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campanhas municipais no Ceará?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4224528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das despesas de campanha declaradas ao TSE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Eleições Municipais de 2024 — recorte do estado do Ceará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R$ 260,2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779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declarado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8620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12.640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86200" y="5779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52578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949440" y="57790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Matplotlib · Seaborn  |  Fonte: TSE — Repositório de Dados Eleitorais (dados abertos)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dados foram tratados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 do notebook — Conhecimento e tratamento dos dados, antes de qualquer análise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DA BASE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144.613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despesas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237744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63240" y="294436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/ variáveis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43616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do Ceará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63240" y="379476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12.640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63240" y="4361688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únicos (SQ_CANDIDATO)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874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TRATAMENTO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06440" y="2359152"/>
            <a:ext cx="292608" cy="29260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806440" y="2359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3042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256946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CSV do TSE com separador ';' e codificação Latin-1, conforme o leiame oficial.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3163824"/>
            <a:ext cx="292608" cy="29260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80644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monetária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3640" y="33741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do valor de texto em formato brasileiro ("1.234,56") para número decimal (VR_DESPESA_CONTRATADA_CLEAN).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3968496"/>
            <a:ext cx="292608" cy="29260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806440" y="3968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91363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de datas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63640" y="417880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DT_DESPESA, DT_ELEICAO e DT_PRESTACAO_CONTAS convertidas para o tipo data (dd/mm/aaaa).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4773168"/>
            <a:ext cx="292608" cy="29260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806440" y="477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471830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Duplicação</a:t>
            </a:r>
            <a:r>
              <a:rPr lang="en-US" sz="125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candidatos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63640" y="49834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SQ_CANDIDATO (chave estável) para contar candidatos únicos, evitando duplicidade gerada pelas múltiplas despesas de uma mesma candidatura.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5577840"/>
            <a:ext cx="292608" cy="29260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806440" y="5577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552297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CPF/CNPJ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263640" y="57881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Normalização do documento do fornecedor para agrupar corretamente o mesmo fornecedor, mesmo com grafias distintas do nome.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Quantidade de Candidatos por Cargo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absoluta e relativa geral — candidatos únicos (SQ_CANDIDATO)</a:t>
            </a:r>
            <a:endParaRPr lang="en-US" sz="1300" dirty="0"/>
          </a:p>
        </p:txBody>
      </p:sp>
      <p:pic>
        <p:nvPicPr>
          <p:cNvPr id="5" name="Image 0" descr="figuras/01_candidatos_por_car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608" y="1627632"/>
            <a:ext cx="7738479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Vereador concentra 96,1% das candidaturas do estado; Prefeito responde por apenas 3,9%.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Gênero (Cargo × Gênero)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 de candidatos por gênero, dentro de cada cargo</a:t>
            </a:r>
            <a:endParaRPr lang="en-US" sz="1300" dirty="0"/>
          </a:p>
        </p:txBody>
      </p:sp>
      <p:pic>
        <p:nvPicPr>
          <p:cNvPr id="5" name="Image 0" descr="figuras/02_genero_por_car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423" y="1627632"/>
            <a:ext cx="9086850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feminina é maior entre vereadores (29,1%) do que entre prefeitos (16,4%).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Total Gasto por Cargo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despesas contratadas — Prefeito vs. Vereador</a:t>
            </a:r>
            <a:endParaRPr lang="en-US" sz="1300" dirty="0"/>
          </a:p>
        </p:txBody>
      </p:sp>
      <p:pic>
        <p:nvPicPr>
          <p:cNvPr id="5" name="Image 0" descr="figuras/03_gasto_por_car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608" y="1627632"/>
            <a:ext cx="7738479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Prefeito concentra R$ 169,1M (65%) do total gasto; Vereador soma R$ 91,1M (35%).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Partidos por Total Gasto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partidos com maiores gastos contratados</a:t>
            </a:r>
            <a:endParaRPr lang="en-US" sz="1300" dirty="0"/>
          </a:p>
        </p:txBody>
      </p:sp>
      <p:pic>
        <p:nvPicPr>
          <p:cNvPr id="5" name="Image 0" descr="figuras/04_top10_parti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7" y="1627632"/>
            <a:ext cx="6978701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PT lidera com R$ 51,1M — maior número absoluto de candidaturas registradas no estado.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Prefeitos com Maiores Gastos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individual por candidato ao cargo de Prefeito</a:t>
            </a:r>
            <a:endParaRPr lang="en-US" sz="1300" dirty="0"/>
          </a:p>
        </p:txBody>
      </p:sp>
      <p:pic>
        <p:nvPicPr>
          <p:cNvPr id="5" name="Image 0" descr="figuras/05_top10_prefeit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497" y="1627632"/>
            <a:ext cx="6978701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Evandro Sá Barreto Leitão lidera o ranking estadual, com R$ 21,3M em despesas contratadas.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Vereadores com Maiores Gastos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individual por candidato ao cargo de Vereador</a:t>
            </a:r>
            <a:endParaRPr lang="en-US" sz="1300" dirty="0"/>
          </a:p>
        </p:txBody>
      </p:sp>
      <p:pic>
        <p:nvPicPr>
          <p:cNvPr id="5" name="Image 0" descr="figuras/06_top10_verea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1483" y="1627632"/>
            <a:ext cx="7788729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campanha a vereador do estado somou R$ 682,5 mil — muito abaixo da escala das campanhas a prefeito.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3.1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 de Gastos por Cargo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total acumulado por candidato (SQ_CANDIDATO), agregado por cargo</a:t>
            </a:r>
            <a:endParaRPr lang="en-US" sz="1300" dirty="0"/>
          </a:p>
        </p:txBody>
      </p:sp>
      <p:pic>
        <p:nvPicPr>
          <p:cNvPr id="5" name="Image 0" descr="figuras/07_media_mediana_car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189" y="1627632"/>
            <a:ext cx="7381318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sempre supera a mediana — sinal de distribuição assimétrica, puxada por poucas campanhas de alto gasto.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3.2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Fornecedores que Mais Receberam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empresas/prestadores por valor total recebido</a:t>
            </a:r>
            <a:endParaRPr lang="en-US" sz="1300" dirty="0"/>
          </a:p>
        </p:txBody>
      </p:sp>
      <p:pic>
        <p:nvPicPr>
          <p:cNvPr id="5" name="Image 0" descr="figuras/08_top10_forneced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108" y="1627632"/>
            <a:ext cx="7269480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Serviços Online do Brasil lidera com R$ 16,2M — maior fornecedor de campanha do estado.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Gastos nas Eleições de 2024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origens de despesa por valor total</a:t>
            </a:r>
            <a:endParaRPr lang="en-US" sz="1300" dirty="0"/>
          </a:p>
        </p:txBody>
      </p:sp>
      <p:pic>
        <p:nvPicPr>
          <p:cNvPr id="5" name="Image 0" descr="figuras/09_top10_origem_despe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108" y="1627632"/>
            <a:ext cx="7269480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Publicidade por materiais impressos é a maior categoria isolada, com R$ 50,2M declarados.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29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Gastos por Fornecedor: Pessoa Física × Jurídica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recebido, consolidado por natureza jurídica do fornecedor</a:t>
            </a:r>
            <a:endParaRPr lang="en-US" sz="1300" dirty="0"/>
          </a:p>
        </p:txBody>
      </p:sp>
      <p:pic>
        <p:nvPicPr>
          <p:cNvPr id="5" name="Image 0" descr="figuras/10_pf_p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460" y="1627632"/>
            <a:ext cx="6374775" cy="4361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Jurídica responde por 76,2% do valor total (R$ 198,3M) contra 23,8% de Pessoa Física (R$ 61,9M).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TSE · Prestação de Contas Eleitorais 2024 · Ceará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991295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9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1B3B6F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899855" y="3749040"/>
            <a:ext cx="5120640" cy="5120640"/>
          </a:xfrm>
          <a:prstGeom prst="ellipse">
            <a:avLst/>
          </a:prstGeom>
          <a:solidFill>
            <a:srgbClr val="2E6E7E">
              <a:alpha val="3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dinheiro da campanha segue um padrão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claro de concentração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633472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82296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6060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cargo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77640" y="2606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Prefeito concentra 65% do gasto total (R$ 169,1M) com apenas 3,9% das candidaturas — o gasto médio por prefeito é 45x o de um vereador.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4728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partido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77640" y="344728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lidera o ranking absoluto (R$ 51,1M), impulsionado pelo maior número de candidaturas lançadas no estado.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315968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296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288536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fornecedor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977640" y="4288536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Serviços Online do Brasil é o maior beneficiário individual (R$ 16,2M) — publicidade digital já rivaliza com os grandes fornecedores tradicionais.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157216"/>
            <a:ext cx="347472" cy="347472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2960" y="5157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129784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natureza jurídica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77640" y="5129784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CF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Jurídica responde por 76% de todo o valor pago, refletindo a profissionalização dos serviços contratados em campanha.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630936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TSE — Repositório de Dados Eleitorais (dados abertos) · Prestação de Contas Eleitorais 2024 · Ceará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885</Words>
  <Application>Microsoft Office PowerPoint</Application>
  <PresentationFormat>Widescreen</PresentationFormat>
  <Paragraphs>131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anady carvalho de mesquita</cp:lastModifiedBy>
  <cp:revision>1</cp:revision>
  <dcterms:created xsi:type="dcterms:W3CDTF">2026-09-22T00:16:18Z</dcterms:created>
  <dcterms:modified xsi:type="dcterms:W3CDTF">2026-09-25T19:49:30Z</dcterms:modified>
</cp:coreProperties>
</file>